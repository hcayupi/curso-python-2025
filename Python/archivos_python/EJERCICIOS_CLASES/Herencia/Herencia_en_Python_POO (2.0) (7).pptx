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94660"/>
  </p:normalViewPr>
  <p:slideViewPr>
    <p:cSldViewPr snapToGrid="0">
      <p:cViewPr varScale="1">
        <p:scale>
          <a:sx n="52" d="100"/>
          <a:sy n="52" d="100"/>
        </p:scale>
        <p:origin x="60" y="1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herencia nos permite reutilizar código. Una clase hija toma lo que ya existe en la clase padre y puede adaptarlo a sus propias necesidades.</a:t>
            </a:r>
            <a:endParaRPr/>
          </a:p>
        </p:txBody>
      </p:sp>
      <p:sp>
        <p:nvSpPr>
          <p:cNvPr id="174" name="Google Shape;17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principio DRY significa Don't Repeat Yourself. Si repetimos código, es más difícil de mantener y corregir errores.</a:t>
            </a:r>
            <a:endParaRPr/>
          </a:p>
        </p:txBody>
      </p:sp>
      <p:sp>
        <p:nvSpPr>
          <p:cNvPr id="182" name="Google Shape;18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3fc3ed3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3fc3ed31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c3fc3ed31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L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3fc3ed315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3fc3ed315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c3fc3ed315_0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L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Algunos métodos vienen tal cual del padre, otros se modifican y otros solo existen en la clase hija.</a:t>
            </a:r>
            <a:endParaRPr/>
          </a:p>
        </p:txBody>
      </p:sp>
      <p:sp>
        <p:nvSpPr>
          <p:cNvPr id="204" name="Google Shape;20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35f19504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35f19504c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935f19504c_0_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CL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super() se usa mucho en constructores cuando queremos agregar atributos nuevos sin repetir lo que ya hace la clase padre.</a:t>
            </a:r>
            <a:endParaRPr/>
          </a:p>
        </p:txBody>
      </p:sp>
      <p:sp>
        <p:nvSpPr>
          <p:cNvPr id="245" name="Google Shape;24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herencia múltiple existe, pero hay que usarla con cuidado porque puede hacer el código más complejo.</a:t>
            </a:r>
            <a:endParaRPr/>
          </a:p>
        </p:txBody>
      </p:sp>
      <p:sp>
        <p:nvSpPr>
          <p:cNvPr id="256" name="Google Shape;25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MRO define qué método se ejecuta cuando hay herencia múltiple. Python sigue un orden específico.</a:t>
            </a:r>
            <a:endParaRPr/>
          </a:p>
        </p:txBody>
      </p:sp>
      <p:sp>
        <p:nvSpPr>
          <p:cNvPr id="266" name="Google Shape;26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 extrusionOk="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423334" y="4529541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3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"/>
          <p:cNvSpPr/>
          <p:nvPr/>
        </p:nvSpPr>
        <p:spPr>
          <a:xfrm rot="10800000" flipH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sldNum" idx="12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body" idx="1"/>
          </p:nvPr>
        </p:nvSpPr>
        <p:spPr>
          <a:xfrm>
            <a:off x="1942416" y="2136706"/>
            <a:ext cx="3197531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body" idx="2"/>
          </p:nvPr>
        </p:nvSpPr>
        <p:spPr>
          <a:xfrm>
            <a:off x="5337307" y="2136706"/>
            <a:ext cx="3197093" cy="3767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2"/>
          </p:nvPr>
        </p:nvSpPr>
        <p:spPr>
          <a:xfrm>
            <a:off x="1942415" y="2802888"/>
            <a:ext cx="3197532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body" idx="3"/>
          </p:nvPr>
        </p:nvSpPr>
        <p:spPr>
          <a:xfrm>
            <a:off x="5656154" y="2223398"/>
            <a:ext cx="287323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body" idx="4"/>
          </p:nvPr>
        </p:nvSpPr>
        <p:spPr>
          <a:xfrm>
            <a:off x="5333715" y="2799660"/>
            <a:ext cx="3195680" cy="310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7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8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8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Century Gothic"/>
              <a:buNone/>
              <a:defRPr sz="20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4743494" y="446089"/>
            <a:ext cx="3790906" cy="5414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1942415" y="1598613"/>
            <a:ext cx="2629584" cy="426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0"/>
          <p:cNvSpPr>
            <a:spLocks noGrp="1"/>
          </p:cNvSpPr>
          <p:nvPr>
            <p:ph type="pic" idx="2"/>
          </p:nvPr>
        </p:nvSpPr>
        <p:spPr>
          <a:xfrm>
            <a:off x="1942415" y="634965"/>
            <a:ext cx="6591985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942415" y="5367338"/>
            <a:ext cx="6591985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0"/>
          <p:cNvSpPr/>
          <p:nvPr/>
        </p:nvSpPr>
        <p:spPr>
          <a:xfrm rot="10800000" flipH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sldNum" idx="12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descripción">
  <p:cSld name="Título y descripció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/>
          <p:nvPr/>
        </p:nvSpPr>
        <p:spPr>
          <a:xfrm rot="10800000" flipH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 con descripción">
  <p:cSld name="Cita con descripció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1"/>
          </p:nvPr>
        </p:nvSpPr>
        <p:spPr>
          <a:xfrm>
            <a:off x="2415972" y="3505200"/>
            <a:ext cx="5653888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body" idx="2"/>
          </p:nvPr>
        </p:nvSpPr>
        <p:spPr>
          <a:xfrm>
            <a:off x="1942415" y="4354046"/>
            <a:ext cx="6591985" cy="155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2"/>
          <p:cNvSpPr/>
          <p:nvPr/>
        </p:nvSpPr>
        <p:spPr>
          <a:xfrm rot="10800000" flipH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sldNum" idx="12"/>
          </p:nvPr>
        </p:nvSpPr>
        <p:spPr>
          <a:xfrm>
            <a:off x="511228" y="3244140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  <p:sp>
        <p:nvSpPr>
          <p:cNvPr id="123" name="Google Shape;123;p12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24" name="Google Shape;124;p12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jeta de nombre">
  <p:cSld name="Tarjeta de nombr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body" idx="1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 rot="10800000" flipH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ldNum" idx="12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r la tarjeta de nombre">
  <p:cSld name="Citar la tarjeta de nombre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68829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688292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36" name="Google Shape;136;p14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4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4"/>
          <p:cNvSpPr/>
          <p:nvPr/>
        </p:nvSpPr>
        <p:spPr>
          <a:xfrm rot="10800000" flipH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ldNum" idx="12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dadero o falso">
  <p:cSld name="Verdadero o falso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"/>
          <p:cNvSpPr txBox="1"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body" idx="1"/>
          </p:nvPr>
        </p:nvSpPr>
        <p:spPr>
          <a:xfrm>
            <a:off x="1942415" y="4343400"/>
            <a:ext cx="659198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2400"/>
              <a:buFont typeface="Century Gothic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Font typeface="Century Gothic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00"/>
              <a:buFont typeface="Century Gothic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00"/>
              <a:buFont typeface="Century Gothic"/>
              <a:buNone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body" idx="2"/>
          </p:nvPr>
        </p:nvSpPr>
        <p:spPr>
          <a:xfrm>
            <a:off x="1942415" y="5181600"/>
            <a:ext cx="6591985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15"/>
          <p:cNvSpPr/>
          <p:nvPr/>
        </p:nvSpPr>
        <p:spPr>
          <a:xfrm rot="10800000" flipH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sldNum" idx="12"/>
          </p:nvPr>
        </p:nvSpPr>
        <p:spPr>
          <a:xfrm>
            <a:off x="511228" y="4983088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body" idx="1"/>
          </p:nvPr>
        </p:nvSpPr>
        <p:spPr>
          <a:xfrm rot="5400000">
            <a:off x="3295307" y="780707"/>
            <a:ext cx="3886200" cy="6591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 rot="5400000">
            <a:off x="5064693" y="2441248"/>
            <a:ext cx="5283817" cy="1656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 rot="5400000">
            <a:off x="1658681" y="911140"/>
            <a:ext cx="5283817" cy="4716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160" name="Google Shape;160;p17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7"/>
          <p:cNvSpPr/>
          <p:nvPr/>
        </p:nvSpPr>
        <p:spPr>
          <a:xfrm rot="10800000" flipH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 extrusionOk="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DE6C3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11" name="Google Shape;11;p1"/>
            <p:cNvSpPr/>
            <p:nvPr/>
          </p:nvSpPr>
          <p:spPr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l" t="t" r="r" b="b"/>
              <a:pathLst>
                <a:path w="22" h="136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l" t="t" r="r" b="b"/>
              <a:pathLst>
                <a:path w="140" h="504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l" t="t" r="r" b="b"/>
              <a:pathLst>
                <a:path w="132" h="308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l" t="t" r="r" b="b"/>
              <a:pathLst>
                <a:path w="37" h="79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l" t="t" r="r" b="b"/>
              <a:pathLst>
                <a:path w="178" h="722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l" t="t" r="r" b="b"/>
              <a:pathLst>
                <a:path w="23" h="635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l" t="t" r="r" b="b"/>
              <a:pathLst>
                <a:path w="41" h="222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l" t="t" r="r" b="b"/>
              <a:pathLst>
                <a:path w="450" h="878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l" t="t" r="r" b="b"/>
              <a:pathLst>
                <a:path w="35" h="73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l" t="t" r="r" b="b"/>
              <a:pathLst>
                <a:path w="52" h="135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23" name="Google Shape;23;p1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24" name="Google Shape;24;p1"/>
            <p:cNvSpPr/>
            <p:nvPr/>
          </p:nvSpPr>
          <p:spPr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l" t="t" r="r" b="b"/>
              <a:pathLst>
                <a:path w="103" h="920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l" t="t" r="r" b="b"/>
              <a:pathLst>
                <a:path w="88" h="330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l" t="t" r="r" b="b"/>
              <a:pathLst>
                <a:path w="90" h="207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l" t="t" r="r" b="b"/>
              <a:pathLst>
                <a:path w="115" h="467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l" t="t" r="r" b="b"/>
              <a:pathLst>
                <a:path w="36" h="633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l" t="t" r="r" b="b"/>
              <a:pathLst>
                <a:path w="28" h="59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l" t="t" r="r" b="b"/>
              <a:pathLst>
                <a:path w="17" h="107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l" t="t" r="r" b="b"/>
              <a:pathLst>
                <a:path w="294" h="568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l" t="t" r="r" b="b"/>
              <a:pathLst>
                <a:path w="25" h="53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l" t="t" r="r" b="b"/>
              <a:pathLst>
                <a:path w="29" h="14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l" t="t" r="r" b="b"/>
              <a:pathLst>
                <a:path w="8" h="48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l" t="t" r="r" b="b"/>
              <a:pathLst>
                <a:path w="44" h="11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" name="Google Shape;36;p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 txBox="1"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1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🠶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🠶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🠶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🠶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39" name="Google Shape;39;p1"/>
          <p:cNvSpPr txBox="1">
            <a:spLocks noGrp="1"/>
          </p:cNvSpPr>
          <p:nvPr>
            <p:ph type="dt" idx="10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0" name="Google Shape;40;p1"/>
          <p:cNvSpPr txBox="1">
            <a:spLocks noGrp="1"/>
          </p:cNvSpPr>
          <p:nvPr>
            <p:ph type="ftr" idx="11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41" name="Google Shape;41;p1"/>
          <p:cNvSpPr txBox="1">
            <a:spLocks noGrp="1"/>
          </p:cNvSpPr>
          <p:nvPr>
            <p:ph type="sldNum" idx="12"/>
          </p:nvPr>
        </p:nvSpPr>
        <p:spPr>
          <a:xfrm>
            <a:off x="511228" y="787783"/>
            <a:ext cx="5849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2000" b="0" u="none">
                <a:solidFill>
                  <a:srgbClr val="FE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s-CL" sz="5400"/>
              <a:t>Herencia en Programación (Python)</a:t>
            </a:r>
            <a:endParaRPr/>
          </a:p>
        </p:txBody>
      </p:sp>
      <p:sp>
        <p:nvSpPr>
          <p:cNvPr id="169" name="Google Shape;169;p18"/>
          <p:cNvSpPr txBox="1">
            <a:spLocks noGrp="1"/>
          </p:cNvSpPr>
          <p:nvPr>
            <p:ph type="subTitle" idx="1"/>
          </p:nvPr>
        </p:nvSpPr>
        <p:spPr>
          <a:xfrm>
            <a:off x="4572000" y="5497975"/>
            <a:ext cx="4203740" cy="127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CL"/>
              <a:t>Bernardo Basulto</a:t>
            </a:r>
            <a:endParaRPr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CL"/>
              <a:t>Felipe Poblete</a:t>
            </a:r>
            <a:endParaRPr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CL"/>
              <a:t>Marjorie Aguilera</a:t>
            </a:r>
            <a:endParaRPr/>
          </a:p>
          <a:p>
            <a:pPr marL="0" lvl="0" indent="0" algn="r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s-CL"/>
              <a:t>Javiera Gomez 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2094817" y="4929780"/>
            <a:ext cx="4203740" cy="743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None/>
            </a:pPr>
            <a:r>
              <a:rPr lang="es-CL" sz="1800">
                <a:solidFill>
                  <a:srgbClr val="595959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Programación Orientada a Objetos</a:t>
            </a:r>
            <a:endParaRPr sz="1800">
              <a:solidFill>
                <a:srgbClr val="595959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¿Qué es la herencia?</a:t>
            </a:r>
            <a:endParaRPr/>
          </a:p>
        </p:txBody>
      </p:sp>
      <p:sp>
        <p:nvSpPr>
          <p:cNvPr id="177" name="Google Shape;177;p19"/>
          <p:cNvSpPr txBox="1">
            <a:spLocks noGrp="1"/>
          </p:cNvSpPr>
          <p:nvPr>
            <p:ph type="body" idx="1"/>
          </p:nvPr>
        </p:nvSpPr>
        <p:spPr>
          <a:xfrm>
            <a:off x="1119038" y="1540200"/>
            <a:ext cx="77277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•Es un principio de la programación orientada a objetos que permite crear nuevas clases a partir de</a:t>
            </a:r>
            <a:endParaRPr/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clases existentes.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Una clase hija hereda atributos y métodos de una clase padre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Los cuales se pueden:</a:t>
            </a:r>
            <a:endParaRPr/>
          </a:p>
          <a:p>
            <a:pPr marL="1143000" lvl="2" indent="-234950" algn="l" rtl="0">
              <a:spcBef>
                <a:spcPts val="1000"/>
              </a:spcBef>
              <a:spcAft>
                <a:spcPts val="0"/>
              </a:spcAft>
              <a:buSzPts val="1900"/>
              <a:buChar char="🠶"/>
            </a:pPr>
            <a:r>
              <a:rPr lang="es-CL" sz="1500"/>
              <a:t>modificar,</a:t>
            </a:r>
            <a:endParaRPr sz="1500"/>
          </a:p>
          <a:p>
            <a:pPr marL="1143000" lvl="2" indent="-234950" algn="l" rtl="0">
              <a:spcBef>
                <a:spcPts val="1000"/>
              </a:spcBef>
              <a:spcAft>
                <a:spcPts val="0"/>
              </a:spcAft>
              <a:buSzPts val="1900"/>
              <a:buChar char="🠶"/>
            </a:pPr>
            <a:r>
              <a:rPr lang="es-CL" sz="1500"/>
              <a:t>sobrescribir </a:t>
            </a:r>
            <a:endParaRPr sz="1500"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 sz="1500"/>
              <a:t>agregar</a:t>
            </a:r>
            <a:r>
              <a:rPr lang="es-CL"/>
              <a:t> </a:t>
            </a:r>
            <a:endParaRPr/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8" name="Google Shape;178;p19" descr="Interfaz de usuario gráfica, 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r="12822" b="9280"/>
          <a:stretch/>
        </p:blipFill>
        <p:spPr>
          <a:xfrm>
            <a:off x="3694475" y="4363050"/>
            <a:ext cx="4839925" cy="24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¿Para qué sirve la herencia?</a:t>
            </a:r>
            <a:endParaRPr/>
          </a:p>
        </p:txBody>
      </p:sp>
      <p:sp>
        <p:nvSpPr>
          <p:cNvPr id="185" name="Google Shape;185;p20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Evita repetir código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Facilita el mantenimiento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Sigue el principio DRY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1143000" lvl="2" indent="-2286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Que es el principio DRY?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840029" y="2954161"/>
            <a:ext cx="2810100" cy="1281000"/>
          </a:xfrm>
          <a:prstGeom prst="ellipse">
            <a:avLst/>
          </a:prstGeom>
          <a:solidFill>
            <a:schemeClr val="accent1"/>
          </a:solidFill>
          <a:ln w="15875" cap="rnd" cmpd="sng">
            <a:solidFill>
              <a:srgbClr val="4514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Don't Repeat Yourself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1324" y="4307574"/>
            <a:ext cx="3877652" cy="23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200" cy="12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700" b="1" dirty="0">
                <a:solidFill>
                  <a:srgbClr val="3F3F3F"/>
                </a:solidFill>
              </a:rPr>
              <a:t>⚠️ Riesgos a considerar</a:t>
            </a:r>
            <a:endParaRPr sz="4500" b="1" dirty="0"/>
          </a:p>
        </p:txBody>
      </p:sp>
      <p:sp>
        <p:nvSpPr>
          <p:cNvPr id="194" name="Google Shape;194;p21"/>
          <p:cNvSpPr txBox="1">
            <a:spLocks noGrp="1"/>
          </p:cNvSpPr>
          <p:nvPr>
            <p:ph type="body" idx="1"/>
          </p:nvPr>
        </p:nvSpPr>
        <p:spPr>
          <a:xfrm>
            <a:off x="886825" y="1303150"/>
            <a:ext cx="7970100" cy="538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latin typeface="Century Gothic" panose="020B0502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dirty="0">
                <a:latin typeface="Century Gothic" panose="020B0502020202020204" pitchFamily="34" charset="0"/>
              </a:rPr>
              <a:t>🚫 Herencia mal usada puede generar acoplamiento excesivo</a:t>
            </a:r>
            <a:endParaRPr dirty="0">
              <a:latin typeface="Century Gothic" panose="020B0502020202020204" pitchFamily="34" charset="0"/>
            </a:endParaRPr>
          </a:p>
          <a:p>
            <a:pPr marL="914400" lvl="0" indent="-362841" algn="l" rtl="0">
              <a:spcBef>
                <a:spcPts val="1000"/>
              </a:spcBef>
              <a:spcAft>
                <a:spcPts val="0"/>
              </a:spcAft>
              <a:buSzPct val="139169"/>
              <a:buChar char="🠶"/>
            </a:pPr>
            <a:r>
              <a:rPr lang="es-CL" sz="1787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Las clases hijas </a:t>
            </a:r>
            <a:r>
              <a:rPr lang="es-CL" sz="1787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dependen demasiado</a:t>
            </a:r>
            <a:r>
              <a:rPr lang="es-CL" sz="1787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de cómo está hecha la clase padre.</a:t>
            </a:r>
            <a:endParaRPr sz="1787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914400" lvl="0" indent="-32505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🠶"/>
            </a:pPr>
            <a:r>
              <a:rPr lang="es-CL" sz="1787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Si cambia la clase padre, 💥 Todas las clases hijas pueden verse afectadas.</a:t>
            </a:r>
            <a:endParaRPr sz="1787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dirty="0">
                <a:latin typeface="Century Gothic" panose="020B0502020202020204" pitchFamily="34" charset="0"/>
              </a:rPr>
              <a:t>🚫 Es fácil sobrecargar las subclases con responsabilidades que no les corresponden</a:t>
            </a:r>
            <a:endParaRPr dirty="0">
              <a:latin typeface="Century Gothic" panose="020B0502020202020204" pitchFamily="34" charset="0"/>
            </a:endParaRPr>
          </a:p>
          <a:p>
            <a:pPr marL="914400" lvl="0" indent="-361612" algn="l" rtl="0">
              <a:spcBef>
                <a:spcPts val="1000"/>
              </a:spcBef>
              <a:spcAft>
                <a:spcPts val="0"/>
              </a:spcAft>
              <a:buSzPct val="139675"/>
              <a:buChar char="🠶"/>
            </a:pPr>
            <a:r>
              <a:rPr lang="es-CL" sz="1764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 una clase hija se le asignan </a:t>
            </a:r>
            <a:r>
              <a:rPr lang="es-CL" sz="1764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funciones que no le corresponden</a:t>
            </a:r>
            <a:r>
              <a:rPr lang="es-CL" sz="1764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, solo porque “hereda”.</a:t>
            </a:r>
            <a:endParaRPr sz="1764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914400" lvl="0" indent="-323829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487"/>
              <a:buFont typeface="Arial"/>
              <a:buChar char="🠶"/>
            </a:pPr>
            <a:r>
              <a:rPr lang="es-CL" sz="1464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📌 Esto rompe el principio de </a:t>
            </a:r>
            <a:r>
              <a:rPr lang="es-CL" sz="1464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responsabilidad única</a:t>
            </a:r>
            <a:r>
              <a:rPr lang="es-CL" sz="1464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.</a:t>
            </a:r>
            <a:endParaRPr sz="1764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1371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dirty="0">
                <a:latin typeface="Century Gothic" panose="020B0502020202020204" pitchFamily="34" charset="0"/>
              </a:rPr>
              <a:t>🚫 Puede dificultar el </a:t>
            </a:r>
            <a:r>
              <a:rPr lang="es-CL" dirty="0" err="1">
                <a:latin typeface="Century Gothic" panose="020B0502020202020204" pitchFamily="34" charset="0"/>
              </a:rPr>
              <a:t>testing</a:t>
            </a:r>
            <a:r>
              <a:rPr lang="es-CL" dirty="0">
                <a:latin typeface="Century Gothic" panose="020B0502020202020204" pitchFamily="34" charset="0"/>
              </a:rPr>
              <a:t> si se extiende en exceso</a:t>
            </a:r>
            <a:endParaRPr dirty="0">
              <a:latin typeface="Century Gothic" panose="020B0502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latin typeface="Century Gothic" panose="020B0502020202020204" pitchFamily="3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dirty="0">
                <a:latin typeface="Century Gothic" panose="020B0502020202020204" pitchFamily="34" charset="0"/>
              </a:rPr>
              <a:t>Heredar es útil cuando existe una relación clara del tipo "es un..." (Ej.: un Perro es un Animal).</a:t>
            </a:r>
            <a:endParaRPr dirty="0">
              <a:latin typeface="Century Gothic" panose="020B0502020202020204" pitchFamily="34" charset="0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body" idx="1"/>
          </p:nvPr>
        </p:nvSpPr>
        <p:spPr>
          <a:xfrm>
            <a:off x="986650" y="404925"/>
            <a:ext cx="7547700" cy="479210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3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Ejemplos correctos</a:t>
            </a:r>
            <a:endParaRPr sz="2300" b="1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Perro es un Animal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✅</a:t>
            </a:r>
            <a:b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21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Auto es un Vehículo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✅</a:t>
            </a:r>
            <a:b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21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Empleado es una Persona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✅</a:t>
            </a:r>
            <a:b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21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s-CL" sz="23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Ejemplos incorrectos</a:t>
            </a:r>
            <a:endParaRPr sz="2300" b="1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Motor es un Auto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❌</a:t>
            </a:r>
            <a:b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21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Archivo es una </a:t>
            </a:r>
            <a:r>
              <a:rPr lang="es-CL" sz="2100" b="1" dirty="0" err="1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BaseDeDatos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❌</a:t>
            </a:r>
            <a:b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21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457200" lvl="0" indent="-36195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Un </a:t>
            </a:r>
            <a:r>
              <a:rPr lang="es-CL" sz="21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Pago es un Usuario</a:t>
            </a:r>
            <a:r>
              <a:rPr lang="es-CL" sz="21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❌</a:t>
            </a:r>
            <a:endParaRPr sz="2800" dirty="0">
              <a:latin typeface="Century Gothic" panose="020B0502020202020204" pitchFamily="34" charset="0"/>
            </a:endParaRP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1E34D8B-EBCF-615E-292C-67EB1B7A4D5B}"/>
              </a:ext>
            </a:extLst>
          </p:cNvPr>
          <p:cNvSpPr/>
          <p:nvPr/>
        </p:nvSpPr>
        <p:spPr>
          <a:xfrm>
            <a:off x="2835797" y="5416953"/>
            <a:ext cx="4085864" cy="14410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highlight>
                  <a:srgbClr val="000080"/>
                </a:highlight>
              </a:rPr>
              <a:t>“Si no puedo decir naturalmente ‘X es un Y’, entonces probablemente no debería usar herencia.”</a:t>
            </a:r>
            <a:endParaRPr lang="es-CL" b="1" dirty="0">
              <a:highlight>
                <a:srgbClr val="000080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Tipos de métodos</a:t>
            </a:r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body" idx="1"/>
          </p:nvPr>
        </p:nvSpPr>
        <p:spPr>
          <a:xfrm>
            <a:off x="1942425" y="2133600"/>
            <a:ext cx="6591900" cy="4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🠶"/>
            </a:pPr>
            <a:r>
              <a:rPr lang="es-CL" sz="16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Heredados:</a:t>
            </a:r>
            <a: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vienen directamente del padre</a:t>
            </a:r>
            <a:b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3429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🠶"/>
            </a:pPr>
            <a:r>
              <a:rPr lang="es-CL" sz="16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Sobrescritos:</a:t>
            </a:r>
            <a: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el hijo cambia su comportamiento</a:t>
            </a:r>
            <a:b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342900" lvl="0" indent="-368300" algn="l" rtl="0">
              <a:spcBef>
                <a:spcPts val="1000"/>
              </a:spcBef>
              <a:spcAft>
                <a:spcPts val="0"/>
              </a:spcAft>
              <a:buSzPts val="2200"/>
              <a:buChar char="🠶"/>
            </a:pPr>
            <a:r>
              <a:rPr lang="es-CL" sz="16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Nuevos:</a:t>
            </a:r>
            <a: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solo existen en la clase hija</a:t>
            </a:r>
            <a:endParaRPr sz="16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3429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15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	</a:t>
            </a:r>
            <a:endParaRPr dirty="0"/>
          </a:p>
        </p:txBody>
      </p:sp>
      <p:sp>
        <p:nvSpPr>
          <p:cNvPr id="2" name="Lágrima 1">
            <a:extLst>
              <a:ext uri="{FF2B5EF4-FFF2-40B4-BE49-F238E27FC236}">
                <a16:creationId xmlns:a16="http://schemas.microsoft.com/office/drawing/2014/main" id="{EA8B4451-D3EA-132D-0B3E-B066EC498108}"/>
              </a:ext>
            </a:extLst>
          </p:cNvPr>
          <p:cNvSpPr/>
          <p:nvPr/>
        </p:nvSpPr>
        <p:spPr>
          <a:xfrm>
            <a:off x="3032566" y="4259484"/>
            <a:ext cx="3055717" cy="1994016"/>
          </a:xfrm>
          <a:prstGeom prst="teardrop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“</a:t>
            </a:r>
            <a:r>
              <a:rPr lang="es-CL" b="1" dirty="0"/>
              <a:t>Esto nos da flexibilidad para reutilizar código, adaptarlo o extenderlo según lo que necesitemos.”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>
            <a:spLocks noGrp="1"/>
          </p:cNvSpPr>
          <p:nvPr>
            <p:ph type="title"/>
          </p:nvPr>
        </p:nvSpPr>
        <p:spPr>
          <a:xfrm>
            <a:off x="1629515" y="605963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Ejemplo de Heredados</a:t>
            </a:r>
            <a:endParaRPr/>
          </a:p>
        </p:txBody>
      </p:sp>
      <p:sp>
        <p:nvSpPr>
          <p:cNvPr id="214" name="Google Shape;214;p24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15" name="Google Shape;215;p24" descr="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 r="12217"/>
          <a:stretch/>
        </p:blipFill>
        <p:spPr>
          <a:xfrm>
            <a:off x="1169472" y="1905000"/>
            <a:ext cx="7509284" cy="4454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200" cy="12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Ejemplo de sobrescribir</a:t>
            </a: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body" idx="1"/>
          </p:nvPr>
        </p:nvSpPr>
        <p:spPr>
          <a:xfrm>
            <a:off x="1942500" y="5443125"/>
            <a:ext cx="6591900" cy="1281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500" dirty="0">
                <a:solidFill>
                  <a:srgbClr val="568FF4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Perro</a:t>
            </a:r>
            <a:r>
              <a:rPr lang="es-CL" sz="55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hereda de </a:t>
            </a:r>
            <a:r>
              <a:rPr lang="es-CL" sz="5500" dirty="0">
                <a:solidFill>
                  <a:srgbClr val="568FF4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Animal</a:t>
            </a:r>
            <a:br>
              <a:rPr lang="es-CL" sz="5500" dirty="0">
                <a:solidFill>
                  <a:srgbClr val="188038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5500" dirty="0">
              <a:solidFill>
                <a:srgbClr val="188038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5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Puede usar </a:t>
            </a:r>
            <a:r>
              <a:rPr lang="es-CL" sz="5500" dirty="0">
                <a:solidFill>
                  <a:srgbClr val="188038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nombre</a:t>
            </a:r>
            <a:br>
              <a:rPr lang="es-CL" sz="5500" dirty="0">
                <a:solidFill>
                  <a:srgbClr val="188038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</a:br>
            <a:endParaRPr sz="5500" dirty="0">
              <a:solidFill>
                <a:srgbClr val="188038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CL" sz="55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Puede sobrescribir métodos</a:t>
            </a:r>
            <a:endParaRPr sz="5500" dirty="0">
              <a:solidFill>
                <a:schemeClr val="dk1"/>
              </a:solidFill>
              <a:latin typeface="Century Gothic" panose="020B0502020202020204" pitchFamily="34" charset="0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6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488" y="1664342"/>
            <a:ext cx="4543425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2488" y="4069708"/>
            <a:ext cx="378142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1690875" y="438753"/>
            <a:ext cx="6589200" cy="9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/>
              <a:t>Sobrescribir (polimorfismo) </a:t>
            </a:r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231" name="Google Shape;23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7275" y="1553465"/>
            <a:ext cx="6216400" cy="38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9775" y="5705943"/>
            <a:ext cx="1418825" cy="4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6"/>
          <p:cNvSpPr txBox="1"/>
          <p:nvPr/>
        </p:nvSpPr>
        <p:spPr>
          <a:xfrm>
            <a:off x="1436525" y="6220825"/>
            <a:ext cx="7228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i="1" dirty="0">
                <a:solidFill>
                  <a:schemeClr val="dk1"/>
                </a:solidFill>
                <a:latin typeface="Century Gothic" panose="020B0502020202020204" pitchFamily="34" charset="0"/>
              </a:rPr>
              <a:t>El </a:t>
            </a:r>
            <a:r>
              <a:rPr lang="es-CL" sz="1300" b="1" i="1" dirty="0">
                <a:solidFill>
                  <a:schemeClr val="dk1"/>
                </a:solidFill>
                <a:latin typeface="Century Gothic" panose="020B0502020202020204" pitchFamily="34" charset="0"/>
              </a:rPr>
              <a:t>polimorfismo</a:t>
            </a:r>
            <a:r>
              <a:rPr lang="es-CL" sz="1300" i="1" dirty="0">
                <a:solidFill>
                  <a:schemeClr val="dk1"/>
                </a:solidFill>
                <a:latin typeface="Century Gothic" panose="020B0502020202020204" pitchFamily="34" charset="0"/>
              </a:rPr>
              <a:t> es la capacidad de </a:t>
            </a:r>
            <a:r>
              <a:rPr lang="es-CL" sz="1300" b="1" i="1" dirty="0">
                <a:solidFill>
                  <a:schemeClr val="dk1"/>
                </a:solidFill>
                <a:latin typeface="Century Gothic" panose="020B0502020202020204" pitchFamily="34" charset="0"/>
              </a:rPr>
              <a:t>usar un mismo método</a:t>
            </a:r>
            <a:r>
              <a:rPr lang="es-CL" sz="1300" i="1" dirty="0">
                <a:solidFill>
                  <a:schemeClr val="dk1"/>
                </a:solidFill>
                <a:latin typeface="Century Gothic" panose="020B0502020202020204" pitchFamily="34" charset="0"/>
              </a:rPr>
              <a:t> en distintas clases y que </a:t>
            </a:r>
            <a:r>
              <a:rPr lang="es-CL" sz="1300" b="1" i="1" dirty="0">
                <a:solidFill>
                  <a:schemeClr val="dk1"/>
                </a:solidFill>
                <a:latin typeface="Century Gothic" panose="020B0502020202020204" pitchFamily="34" charset="0"/>
              </a:rPr>
              <a:t>cada una se comporte de manera diferente</a:t>
            </a:r>
            <a:r>
              <a:rPr lang="es-CL" sz="1300" i="1" dirty="0">
                <a:solidFill>
                  <a:schemeClr val="dk1"/>
                </a:solidFill>
                <a:latin typeface="Century Gothic" panose="020B0502020202020204" pitchFamily="34" charset="0"/>
              </a:rPr>
              <a:t>.</a:t>
            </a:r>
            <a:endParaRPr sz="1600" i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/>
              <a:t>Ejemplo de Nuevo método</a:t>
            </a:r>
            <a:endParaRPr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40" name="Google Shape;240;p27"/>
          <p:cNvSpPr txBox="1"/>
          <p:nvPr/>
        </p:nvSpPr>
        <p:spPr>
          <a:xfrm>
            <a:off x="2286000" y="3201495"/>
            <a:ext cx="4572000" cy="465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79166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Consolas"/>
              <a:buNone/>
            </a:pPr>
            <a:br>
              <a:rPr lang="es-CL" sz="1800" b="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800" b="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1" name="Google Shape;241;p27" descr="Texto&#10;&#10;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42415" y="2546423"/>
            <a:ext cx="6049515" cy="328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200" cy="12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Uso de super()</a:t>
            </a: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 sz="1800" b="1" dirty="0">
                <a:solidFill>
                  <a:srgbClr val="3F3F3F"/>
                </a:solidFill>
                <a:latin typeface="Century Gothic" panose="020B0502020202020204" pitchFamily="34" charset="0"/>
                <a:sym typeface="Century Gothic"/>
              </a:rPr>
              <a:t>• </a:t>
            </a:r>
            <a:r>
              <a:rPr lang="es-CL" sz="1600" b="1" dirty="0">
                <a:solidFill>
                  <a:srgbClr val="188038"/>
                </a:solidFill>
                <a:latin typeface="Century Gothic" panose="020B0502020202020204" pitchFamily="34" charset="0"/>
                <a:ea typeface="Roboto Mono"/>
                <a:cs typeface="Roboto Mono"/>
                <a:sym typeface="Roboto Mono"/>
              </a:rPr>
              <a:t>super()</a:t>
            </a:r>
            <a:r>
              <a:rPr lang="es-CL" sz="1600" b="1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s-CL" sz="1600" dirty="0">
                <a:solidFill>
                  <a:schemeClr val="dk1"/>
                </a:solidFill>
                <a:latin typeface="Century Gothic" panose="020B0502020202020204" pitchFamily="34" charset="0"/>
                <a:ea typeface="Arial"/>
                <a:cs typeface="Arial"/>
                <a:sym typeface="Arial"/>
              </a:rPr>
              <a:t>llama al constructor de la clase padre</a:t>
            </a:r>
            <a:endParaRPr sz="2300" dirty="0">
              <a:latin typeface="Century Gothic" panose="020B0502020202020204" pitchFamily="34" charset="0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 sz="1800" dirty="0">
                <a:solidFill>
                  <a:srgbClr val="3F3F3F"/>
                </a:solidFill>
                <a:latin typeface="Century Gothic" panose="020B0502020202020204" pitchFamily="34" charset="0"/>
                <a:sym typeface="Century Gothic"/>
              </a:rPr>
              <a:t>• Evita duplicar código</a:t>
            </a:r>
            <a:endParaRPr sz="1800" dirty="0">
              <a:solidFill>
                <a:srgbClr val="3F3F3F"/>
              </a:solidFill>
              <a:latin typeface="Century Gothic" panose="020B0502020202020204" pitchFamily="34" charset="0"/>
              <a:sym typeface="Century Gothic"/>
            </a:endParaRPr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 dirty="0">
                <a:latin typeface="Century Gothic" panose="020B0502020202020204" pitchFamily="34" charset="0"/>
              </a:rPr>
              <a:t>• Mantiene el código limpio</a:t>
            </a:r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249" name="Google Shape;249;p28" descr="super en python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0" name="Google Shape;250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204" y="3565424"/>
            <a:ext cx="3442994" cy="2056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6326" y="3789897"/>
            <a:ext cx="4753575" cy="150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8"/>
          <p:cNvSpPr txBox="1"/>
          <p:nvPr/>
        </p:nvSpPr>
        <p:spPr>
          <a:xfrm>
            <a:off x="1169150" y="5988278"/>
            <a:ext cx="728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i="1" dirty="0">
                <a:solidFill>
                  <a:schemeClr val="dk1"/>
                </a:solidFill>
                <a:latin typeface="Century Gothic" panose="020B0502020202020204" pitchFamily="34" charset="0"/>
              </a:rPr>
              <a:t>Cuando una subclase define su propio constructor, el constructor de la clase padre no se ejecuta automáticamente, por eso se usa </a:t>
            </a:r>
            <a:r>
              <a:rPr lang="es-CL" sz="1500" b="1" i="1" dirty="0">
                <a:solidFill>
                  <a:srgbClr val="188038"/>
                </a:solidFill>
                <a:latin typeface="Century Gothic" panose="020B0502020202020204" pitchFamily="34" charset="0"/>
                <a:ea typeface="Roboto Mono"/>
                <a:cs typeface="Roboto Mono"/>
                <a:sym typeface="Roboto Mono"/>
              </a:rPr>
              <a:t>super()</a:t>
            </a:r>
            <a:r>
              <a:rPr lang="es-CL" sz="1500" b="1" i="1" dirty="0">
                <a:solidFill>
                  <a:schemeClr val="dk1"/>
                </a:solidFill>
                <a:latin typeface="Century Gothic" panose="020B0502020202020204" pitchFamily="34" charset="0"/>
              </a:rPr>
              <a:t>.</a:t>
            </a:r>
            <a:endParaRPr sz="1800" b="1" i="1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Herencia múltiple</a:t>
            </a:r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body" idx="1"/>
          </p:nvPr>
        </p:nvSpPr>
        <p:spPr>
          <a:xfrm>
            <a:off x="1000900" y="1805675"/>
            <a:ext cx="7533600" cy="43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Una clase puede heredar de varias, es decir una clase hereda de varias clases padre en vez de una sola.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/>
              <a:t>• Python lo permite:</a:t>
            </a:r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900" y="3004175"/>
            <a:ext cx="3390900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8540" y="2813675"/>
            <a:ext cx="30956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0262" y="4699625"/>
            <a:ext cx="4943475" cy="19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MRO (Method Resolution Order)</a:t>
            </a:r>
            <a:endParaRPr/>
          </a:p>
        </p:txBody>
      </p:sp>
      <p:sp>
        <p:nvSpPr>
          <p:cNvPr id="269" name="Google Shape;269;p30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00" cy="37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</a:t>
            </a:r>
            <a:r>
              <a:rPr lang="es-CL"/>
              <a:t>El MRO define el orden en que Python busca los métodos cuando una clase hereda de varias clases.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800"/>
              <a:buChar char="🠶"/>
            </a:pPr>
            <a:r>
              <a:rPr lang="es-CL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</a:t>
            </a:r>
            <a:r>
              <a:rPr lang="es-CL"/>
              <a:t>Regla simple:</a:t>
            </a:r>
            <a:endParaRPr/>
          </a:p>
          <a:p>
            <a:pPr marL="1143000" lvl="2" indent="-215900" algn="l" rtl="0"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CL" sz="1600"/>
              <a:t>Python busca de izquierda a derecha</a:t>
            </a:r>
            <a:endParaRPr sz="1600"/>
          </a:p>
          <a:p>
            <a:pPr marL="1143000" marR="0" lvl="2" indent="-215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🠶"/>
            </a:pPr>
            <a:r>
              <a:rPr lang="es-CL" sz="1600"/>
              <a:t>Luego sube por la jerarquía</a:t>
            </a:r>
            <a:endParaRPr sz="1600"/>
          </a:p>
        </p:txBody>
      </p:sp>
      <p:pic>
        <p:nvPicPr>
          <p:cNvPr id="270" name="Google Shape;2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78" y="4022400"/>
            <a:ext cx="8438076" cy="19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0"/>
          <p:cNvSpPr txBox="1"/>
          <p:nvPr/>
        </p:nvSpPr>
        <p:spPr>
          <a:xfrm>
            <a:off x="1229025" y="6054700"/>
            <a:ext cx="73998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 dirty="0">
                <a:solidFill>
                  <a:srgbClr val="5C5962"/>
                </a:solidFill>
                <a:highlight>
                  <a:srgbClr val="FFFFFF"/>
                </a:highlight>
                <a:latin typeface="Century Gothic" panose="020B0502020202020204" pitchFamily="34" charset="0"/>
              </a:rPr>
              <a:t>Una curiosidad es que al final del todo vemos la clase </a:t>
            </a:r>
            <a:r>
              <a:rPr lang="es-CL" sz="850" b="1" dirty="0" err="1">
                <a:solidFill>
                  <a:srgbClr val="5C5962"/>
                </a:solidFill>
                <a:highlight>
                  <a:srgbClr val="F5F6FA"/>
                </a:highlight>
                <a:latin typeface="Century Gothic" panose="020B0502020202020204" pitchFamily="34" charset="0"/>
                <a:ea typeface="Consolas"/>
                <a:cs typeface="Consolas"/>
                <a:sym typeface="Consolas"/>
              </a:rPr>
              <a:t>object</a:t>
            </a:r>
            <a:r>
              <a:rPr lang="es-CL" sz="1350" dirty="0">
                <a:solidFill>
                  <a:srgbClr val="5C5962"/>
                </a:solidFill>
                <a:highlight>
                  <a:srgbClr val="FFFFFF"/>
                </a:highlight>
                <a:latin typeface="Century Gothic" panose="020B0502020202020204" pitchFamily="34" charset="0"/>
              </a:rPr>
              <a:t>. Aunque pueda parecer raro, es correcto ya que en realidad todas las clases en Python heredan de una clase genérica </a:t>
            </a:r>
            <a:r>
              <a:rPr lang="es-CL" sz="850" b="1" dirty="0" err="1">
                <a:solidFill>
                  <a:srgbClr val="5C5962"/>
                </a:solidFill>
                <a:highlight>
                  <a:srgbClr val="F5F6FA"/>
                </a:highlight>
                <a:latin typeface="Century Gothic" panose="020B0502020202020204" pitchFamily="34" charset="0"/>
                <a:ea typeface="Consolas"/>
                <a:cs typeface="Consolas"/>
                <a:sym typeface="Consolas"/>
              </a:rPr>
              <a:t>object</a:t>
            </a:r>
            <a:r>
              <a:rPr lang="es-CL" sz="1350" dirty="0">
                <a:solidFill>
                  <a:srgbClr val="5C5962"/>
                </a:solidFill>
                <a:highlight>
                  <a:srgbClr val="FFFFFF"/>
                </a:highlight>
                <a:latin typeface="Century Gothic" panose="020B0502020202020204" pitchFamily="34" charset="0"/>
              </a:rPr>
              <a:t>, aunque no lo especifiquemos explícitamente.</a:t>
            </a:r>
            <a:endParaRPr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1"/>
          <p:cNvSpPr txBox="1"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s-CL"/>
              <a:t>Conclusión </a:t>
            </a:r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body" idx="1"/>
          </p:nvPr>
        </p:nvSpPr>
        <p:spPr>
          <a:xfrm>
            <a:off x="1942415" y="2133600"/>
            <a:ext cx="6591985" cy="3777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 dirty="0"/>
              <a:t>La herencia permite crear programas más ordenados y reutilizables.</a:t>
            </a:r>
            <a:endParaRPr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 dirty="0"/>
              <a:t>Facilita la creación de nuevas clases sin repetir código, manteniendo una estructura clara y fácil de mantener.</a:t>
            </a:r>
            <a:endParaRPr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r>
              <a:rPr lang="es-CL" dirty="0"/>
              <a:t>Gracias a la herencia, es posible extender funcionalidades sin modificar la clase original.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🠶"/>
            </a:pPr>
            <a:endParaRPr lang="es-CL" dirty="0"/>
          </a:p>
          <a:p>
            <a:pPr marL="342900" lvl="0">
              <a:spcBef>
                <a:spcPts val="0"/>
              </a:spcBef>
            </a:pPr>
            <a:r>
              <a:rPr lang="es-ES" dirty="0"/>
              <a:t>Aunque la herencia múltiple es poderosa, si se usa en exceso puede complicar el </a:t>
            </a:r>
            <a:r>
              <a:rPr lang="es-ES" dirty="0" err="1"/>
              <a:t>testing</a:t>
            </a:r>
            <a:r>
              <a:rPr lang="es-ES" dirty="0"/>
              <a:t> y el mantenimiento del código, porque no siempre es claro de dónde viene cada método.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1721</TotalTime>
  <Words>735</Words>
  <Application>Microsoft Office PowerPoint</Application>
  <PresentationFormat>Presentación en pantalla (4:3)</PresentationFormat>
  <Paragraphs>91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Century Gothic</vt:lpstr>
      <vt:lpstr>Arial</vt:lpstr>
      <vt:lpstr>Noto Sans Symbols</vt:lpstr>
      <vt:lpstr>Consolas</vt:lpstr>
      <vt:lpstr>Espiral</vt:lpstr>
      <vt:lpstr>Herencia en Programación (Python)</vt:lpstr>
      <vt:lpstr>¿Qué es la herencia?</vt:lpstr>
      <vt:lpstr>¿Para qué sirve la herencia?</vt:lpstr>
      <vt:lpstr>⚠️ Riesgos a considerar</vt:lpstr>
      <vt:lpstr>Presentación de PowerPoint</vt:lpstr>
      <vt:lpstr>Tipos de métodos</vt:lpstr>
      <vt:lpstr>Ejemplo de Heredados</vt:lpstr>
      <vt:lpstr>Ejemplo de sobrescribir</vt:lpstr>
      <vt:lpstr>Sobrescribir (polimorfismo) </vt:lpstr>
      <vt:lpstr>Ejemplo de Nuevo método</vt:lpstr>
      <vt:lpstr>Uso de super()</vt:lpstr>
      <vt:lpstr>Herencia múltiple</vt:lpstr>
      <vt:lpstr>MRO (Method Resolution Order)</vt:lpstr>
      <vt:lpstr>Conclusión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Javiera Gomezt</dc:creator>
  <cp:lastModifiedBy>Javiera Gomezt</cp:lastModifiedBy>
  <cp:revision>2</cp:revision>
  <dcterms:modified xsi:type="dcterms:W3CDTF">2026-02-09T04:40:02Z</dcterms:modified>
</cp:coreProperties>
</file>